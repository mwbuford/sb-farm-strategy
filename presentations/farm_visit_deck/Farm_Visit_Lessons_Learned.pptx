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747"/>
  </p:normalViewPr>
  <p:slideViewPr>
    <p:cSldViewPr snapToGrid="0" snapToObjects="1">
      <p:cViewPr varScale="1">
        <p:scale>
          <a:sx n="122" d="100"/>
          <a:sy n="122" d="100"/>
        </p:scale>
        <p:origin x="224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4332"/>
                </a:solidFill>
                <a:latin typeface="Georgia"/>
              </a:rPr>
              <a:t>Farm Visit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2796F"/>
                </a:solidFill>
                <a:latin typeface="Calibri"/>
              </a:rPr>
              <a:t>Rincon · Apricot Lane · Wanderment — implications for Summerland Farm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2A26"/>
                </a:solidFill>
                <a:latin typeface="Calibri"/>
              </a:rPr>
              <a:t>Max Buford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B4332"/>
                </a:solidFill>
                <a:latin typeface="Georgia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371600" cy="54864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0">
                <a:solidFill>
                  <a:srgbClr val="2D2A26"/>
                </a:solidFill>
                <a:latin typeface="Calibri"/>
              </a:rPr>
              <a:t>•  Three farms (closest peer first): Rincon → Apricot Lane → Wanderment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2D2A26"/>
                </a:solidFill>
                <a:latin typeface="Calibri"/>
              </a:rPr>
              <a:t>•  Market pricing: Index Fresh vs Rincon Hass + passionfruit grades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2D2A26"/>
                </a:solidFill>
                <a:latin typeface="Calibri"/>
              </a:rPr>
              <a:t>•  Home ranch contrast — Summerland / Ortega Ridge erosion &amp; opportunity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2D2A26"/>
                </a:solidFill>
                <a:latin typeface="Calibri"/>
              </a:rPr>
              <a:t>•  California evidence: soils, organic, pests, crop replacement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2D2A26"/>
                </a:solidFill>
                <a:latin typeface="Calibri"/>
              </a:rPr>
              <a:t>•  Decide: Tier A/B priorities → fund (grants) → staff (Armando + area lead)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4332"/>
                </a:solidFill>
                <a:latin typeface="Georgia"/>
              </a:rPr>
              <a:t>Three farms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76218" cy="12344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Rincon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33018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4A98A"/>
                </a:solidFill>
                <a:latin typeface="Calibri"/>
              </a:rPr>
              <a:t>Packing + avocado peer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3576218" cy="365760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321045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On-site packing house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Avocados &amp; exotics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Wholesale + local sales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Hillside orchard peer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7738" y="1371600"/>
            <a:ext cx="3576218" cy="12344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0618" y="160020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Apricot 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4898" y="2057400"/>
            <a:ext cx="33018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4A98A"/>
                </a:solidFill>
                <a:latin typeface="Calibri"/>
              </a:rPr>
              <a:t>Full regenerative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7738" y="2606040"/>
            <a:ext cx="3576218" cy="365760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338" y="2834640"/>
            <a:ext cx="321045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Organic &amp; biodynamic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~234 acres, diverse crops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Animals as managers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Fertility center &amp; tea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8276" y="1371600"/>
            <a:ext cx="3576218" cy="12344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1156" y="160020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Wanderment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5436" y="2057400"/>
            <a:ext cx="33018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4A98A"/>
                </a:solidFill>
                <a:latin typeface="Calibri"/>
              </a:rPr>
              <a:t>Small regen + agritourism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8276" y="2606040"/>
            <a:ext cx="3576218" cy="365760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6876" y="2834640"/>
            <a:ext cx="321045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Cardboard + mulch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Olives / garden / avocados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Animals + visitor revenue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Friday produce boxes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84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RINCON FARMS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4A98A"/>
                </a:solidFill>
                <a:latin typeface="Calibri"/>
              </a:rPr>
              <a:t>Carpinteria · avocado orchard + packing house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4332"/>
                </a:solidFill>
                <a:latin typeface="Georgia"/>
              </a:rPr>
              <a:t>Rincon — operations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Hedgerows along roads for erosion control and buffers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Cover crops (and wildflowers) in avocado understory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On-site packing for avocados &amp; exotic fruit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Wholesale channels plus local sales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G_5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698796"/>
            <a:ext cx="12191695" cy="162555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062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Cover crop &amp; wildflowers under avocados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G_5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698796"/>
            <a:ext cx="12191695" cy="162555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062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Bearing avocado grove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G_5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698796"/>
            <a:ext cx="12191695" cy="162555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062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Hillside orchard with mulch &amp; irrigation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84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MARKET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4A98A"/>
                </a:solidFill>
                <a:latin typeface="Calibri"/>
              </a:rPr>
              <a:t>Index Fresh Fresh Facts · Rincon Farms field sheet · Passionfruit grades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4332"/>
                </a:solidFill>
                <a:latin typeface="Georgia"/>
              </a:rPr>
              <a:t>Hass $/lb — Index Fresh vs Rincon Farms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2796F"/>
                </a:solidFill>
                <a:latin typeface="Calibri"/>
              </a:rPr>
              <a:t>Index Fresh = Fresh Facts mid (7/21/26)  ·  Rincon = field price sheet (7/29–30/26)  ·  Δ = Rincon − Index mid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06070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Index Hass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Rincon Hass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Hass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Index Organic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Rincon Organic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Org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$1.14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$1.30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+$0.16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$1.38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$1.50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+$0.12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$1.14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$1.30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+$0.16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$1.38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$1.50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+$0.12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$1.14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$1.30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+$0.16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$1.46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$1.55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+$0.09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$1.18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$1.32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+$0.14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$1.60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$1.64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+$0.04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$0.90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$0.90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$1.46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$1.50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+$0.04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$0.70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$0.70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$1.26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$1.30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+$0.04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$0.54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$0.60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+$0.06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$0.98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$0.60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−$0.38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6692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A26"/>
                </a:solidFill>
                <a:latin typeface="Calibri"/>
              </a:rPr>
              <a:t>Takeaway: Rincon quotes a premium on large Hass (32–48). Mid/small (60–70) match Index. Organic 84s are the outlier — Index still much higher than Rincon’s posted $0.60.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4332"/>
                </a:solidFill>
                <a:latin typeface="Georgia"/>
              </a:rPr>
              <a:t>Passionfruit grades + market notes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Passionfruit — $/lb by grade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5486400" cy="105156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109728" cy="105156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4332"/>
                </a:solidFill>
                <a:latin typeface="Calibri"/>
              </a:rPr>
              <a:t>#1  ·  $6.00 / lb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A26"/>
                </a:solidFill>
                <a:latin typeface="Calibri"/>
              </a:rPr>
              <a:t>No wrinkles — smooth fruit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43200"/>
            <a:ext cx="5486400" cy="105156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743200"/>
            <a:ext cx="109728" cy="105156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9443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4332"/>
                </a:solidFill>
                <a:latin typeface="Calibri"/>
              </a:rPr>
              <a:t>#2  ·  $2.00 / lb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A26"/>
                </a:solidFill>
                <a:latin typeface="Calibri"/>
              </a:rPr>
              <a:t>Wrinkled, scratched, ripe &amp; edible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31920"/>
            <a:ext cx="5486400" cy="105156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931920"/>
            <a:ext cx="109728" cy="105156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13308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4332"/>
                </a:solidFill>
                <a:latin typeface="Calibri"/>
              </a:rPr>
              <a:t>#3  ·  $0.50 / lb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A26"/>
                </a:solidFill>
                <a:latin typeface="Calibri"/>
              </a:rPr>
              <a:t>Very rough shape, sunburned, overripe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051560"/>
            <a:ext cx="5394960" cy="502920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332"/>
                </a:solidFill>
                <a:latin typeface="Calibri"/>
              </a:rPr>
              <a:t>Rincon sheet — market notes (7/29–30)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7830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Mexican fruit trending smaller → build-up of 60s and smaller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Strong demand for California fruit; market steady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Large sizes strong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Flor Loca peaking on 60s and smaller (low oil)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Peru sending ~11M lbs — above CA inventory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Use with Index Fresh trends on the dashboard for packer vs peer quotes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84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APRICOT LANE FARMS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4A98A"/>
                </a:solidFill>
                <a:latin typeface="Calibri"/>
              </a:rPr>
              <a:t>Moorpark · Organic &amp; Biodynamic · ~234 acres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4332"/>
                </a:solidFill>
                <a:latin typeface="Georgia"/>
              </a:rPr>
              <a:t>Apricot Lane — operations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~17 commercial crops in focus (visit note); 200+ varieties marketed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Animals as landscape managers (not just products)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Compost tea + vermicompost at the Fertility Center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Dedicated pollinator / habitat land woven into the farm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G_49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698796"/>
            <a:ext cx="12191695" cy="162555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062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Fertility Center — vermicompost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G_49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698796"/>
            <a:ext cx="12191695" cy="162555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062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Compost tea brew system (Growing Solutions)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G_49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698796"/>
            <a:ext cx="12191695" cy="162555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062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New plantings with living ground cover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5684367" cy="5029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49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-954938"/>
            <a:ext cx="5684367" cy="75791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87287" y="320040"/>
            <a:ext cx="5684367" cy="5029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G_499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-954938"/>
            <a:ext cx="5684367" cy="75791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5577840"/>
            <a:ext cx="115516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4332"/>
                </a:solidFill>
                <a:latin typeface="Georgia"/>
              </a:rPr>
              <a:t>Packing / organic Lisbon lemons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84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WANDERMENT FARMS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4A98A"/>
                </a:solidFill>
                <a:latin typeface="Calibri"/>
              </a:rPr>
              <a:t>Toro Canyon / Carpinteria · smaller regenerative model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4332"/>
                </a:solidFill>
                <a:latin typeface="Georgia"/>
              </a:rPr>
              <a:t>Wanderment — operations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Cardboard + mulch for weed kill on bare ground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Olives, garden, and avocados at compact scale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Animals + agritourism as meaningful profit centers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Friday produce boxes — a “small Apricot Lane” feel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Wanderment — practices to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796F"/>
                </a:solidFill>
                <a:latin typeface="Calibri"/>
              </a:rPr>
              <a:t>Practices summarized from visit + wandermentfarms.com  ·  no dedicated photo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5478627" cy="214884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91440" cy="214884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9757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Georgia"/>
              </a:rPr>
              <a:t>Weed suppression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97570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2A26"/>
                </a:solidFill>
                <a:latin typeface="Calibri"/>
              </a:rPr>
              <a:t>Cardboard + deep mulch to kill weeds without herbicides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463040"/>
            <a:ext cx="5478627" cy="214884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147" y="1463040"/>
            <a:ext cx="91440" cy="214884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0187" y="1783080"/>
            <a:ext cx="49757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Georgia"/>
              </a:rPr>
              <a:t>Crop mix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187" y="2377440"/>
            <a:ext cx="497570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2A26"/>
                </a:solidFill>
                <a:latin typeface="Calibri"/>
              </a:rPr>
              <a:t>Olives, market garden, and avocados at a smaller regenerative scale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40480"/>
            <a:ext cx="5478627" cy="214884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840480"/>
            <a:ext cx="91440" cy="214884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49757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Georgia"/>
              </a:rPr>
              <a:t>Animals + visits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497570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2A26"/>
                </a:solidFill>
                <a:latin typeface="Calibri"/>
              </a:rPr>
              <a:t>Livestock + agritourism as profit centers alongside produce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0147" y="3840480"/>
            <a:ext cx="5478627" cy="214884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0147" y="3840480"/>
            <a:ext cx="91440" cy="214884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0187" y="4160520"/>
            <a:ext cx="49757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Georgia"/>
              </a:rPr>
              <a:t>Direct 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0187" y="4754880"/>
            <a:ext cx="497570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2A26"/>
                </a:solidFill>
                <a:latin typeface="Calibri"/>
              </a:rPr>
              <a:t>Friday produce boxes — “small Apricot Lane” model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84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COMPOST TEA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4A98A"/>
                </a:solidFill>
                <a:latin typeface="Calibri"/>
              </a:rPr>
              <a:t>What we saw at Apricot Lane — and how Summerland could pilot 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Compost tea — what it is (and isn’t)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Liquid extract / brew of finished compost applied as a soil drench or foliar spray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Goal: move beneficial biology + soluble nutrients onto the orchard floor or canopy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Not the same as raw compost leachate dripping from a pile (don’t spray that on food crops)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Apricot Lane: Growing Solutions-style aerated brew system next to the Fertility Center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Why farms use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Supports living soil after compost / vermicompost programs are in place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Potential plant vigor and disease-suppression benefits when brew quality is consistent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Fits organic / biodynamic fertility loops without synthetic foliar feeds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Works best as part of a system (compost + cover + mulch) — not a standalone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Sources: Apricot Lane visit (Growing Solutions brew); UVM / MOFGA compost-tea primers.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Compost tea — benefits, limits, and food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Promising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Research reviews: can improve growth, yield/quality, and suppress some diseases when well formulated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Best results usually come with good compost feedstock + consistent brew protocol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Pairs with vermicompost / compost programs (Apricot Lane Fertility Center model)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Useful learning tool for crew: makes soil biology visible and operational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Hard 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Results are variable — efficacy is still a research “black box” without standardized protocols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Food safety: sugar additives (e.g. molasses) can grow E. coli / Salmonella in the brew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NOP guidance: potable water; properly heated compost; avoid untested additives on food crops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Labor + equipment: tanks, aeration, filtration, spray logistics — not 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Sources: Environmental Technology &amp; Innovation CT fruit-tree review (2026); USDA ARS pathogen studies; NOP / UVM food-safety notes.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4332"/>
                </a:solidFill>
                <a:latin typeface="Georgia"/>
              </a:rPr>
              <a:t>Compost tea for Summerland — pilot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Sequence: lock Tier A ground cover / mulch / compost first — tea is Tier B, not day-one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Start small: one aerated brewer on a trial avocado block; soil drench preference over foliar until protocol is proven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Safety rules: finished hot compost only, potable water, no molasses/sugar additives unless lab-tested batches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KPIs before scaling: tree vigor scores, disease notes, labor hours/brew, cost per acre vs. solid compost alone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People: area lead + Armando own the SOP; don’t hand an untrained intern the brew alone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4332"/>
                </a:solidFill>
                <a:latin typeface="Georgia"/>
              </a:rPr>
              <a:t>What the three farms taught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 dirty="0">
                <a:solidFill>
                  <a:srgbClr val="2D2A26"/>
                </a:solidFill>
                <a:latin typeface="Calibri"/>
              </a:rPr>
              <a:t>•  Rincon: hedgerows + cover crops + packing access work on the same coastal hills we farm</a:t>
            </a:r>
          </a:p>
          <a:p>
            <a:pPr algn="l">
              <a:spcAft>
                <a:spcPts val="1400"/>
              </a:spcAft>
            </a:pPr>
            <a:r>
              <a:rPr sz="2000" b="0" dirty="0">
                <a:solidFill>
                  <a:srgbClr val="2D2A26"/>
                </a:solidFill>
                <a:latin typeface="Calibri"/>
              </a:rPr>
              <a:t>•  Apricot Lane: fertility, animals, and habitat are a system — copy pieces, not the whole capital stack</a:t>
            </a:r>
          </a:p>
          <a:p>
            <a:pPr algn="l">
              <a:spcAft>
                <a:spcPts val="1400"/>
              </a:spcAft>
            </a:pPr>
            <a:r>
              <a:rPr sz="2000" b="0" dirty="0">
                <a:solidFill>
                  <a:srgbClr val="2D2A26"/>
                </a:solidFill>
                <a:latin typeface="Calibri"/>
              </a:rPr>
              <a:t>•  </a:t>
            </a:r>
            <a:r>
              <a:rPr sz="2000" b="0" dirty="0" err="1">
                <a:solidFill>
                  <a:srgbClr val="2D2A26"/>
                </a:solidFill>
                <a:latin typeface="Calibri"/>
              </a:rPr>
              <a:t>Wanderment</a:t>
            </a:r>
            <a:r>
              <a:rPr sz="2000" b="0" dirty="0">
                <a:solidFill>
                  <a:srgbClr val="2D2A26"/>
                </a:solidFill>
                <a:latin typeface="Calibri"/>
              </a:rPr>
              <a:t>: </a:t>
            </a:r>
            <a:r>
              <a:rPr sz="2000" b="0" dirty="0" err="1">
                <a:solidFill>
                  <a:srgbClr val="2D2A26"/>
                </a:solidFill>
                <a:latin typeface="Calibri"/>
              </a:rPr>
              <a:t>cardboard+mulch</a:t>
            </a:r>
            <a:r>
              <a:rPr sz="2000" b="0" dirty="0">
                <a:solidFill>
                  <a:srgbClr val="2D2A26"/>
                </a:solidFill>
                <a:latin typeface="Calibri"/>
              </a:rPr>
              <a:t> and direct sales scale down to a smaller regenerative op</a:t>
            </a:r>
          </a:p>
          <a:p>
            <a:pPr algn="l">
              <a:spcAft>
                <a:spcPts val="1400"/>
              </a:spcAft>
            </a:pPr>
            <a:r>
              <a:rPr sz="2000" b="0" dirty="0">
                <a:solidFill>
                  <a:srgbClr val="2D2A26"/>
                </a:solidFill>
                <a:latin typeface="Calibri"/>
              </a:rPr>
              <a:t>•  Common thread: ground cover, living edges, and a clear market channel beat bare soil + wholesale-only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84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HOME 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4A98A"/>
                </a:solidFill>
                <a:latin typeface="Calibri"/>
              </a:rPr>
              <a:t>Summerland / Ortega Ridge  ·  photos from SB Farms set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5684367" cy="5029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5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-954938"/>
            <a:ext cx="5684367" cy="75791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87287" y="320040"/>
            <a:ext cx="5684367" cy="5029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G_50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-954938"/>
            <a:ext cx="5684367" cy="75791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5577840"/>
            <a:ext cx="115516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4332"/>
                </a:solidFill>
                <a:latin typeface="Georgia"/>
              </a:rPr>
              <a:t>Erosion problem — bare soil and runoff channels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G_5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698796"/>
            <a:ext cx="12191695" cy="162555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062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Same coastal hills, different management choices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G_5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698796"/>
            <a:ext cx="12191695" cy="162555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062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Mulch already in use — expand this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84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CALIFORNIA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4A98A"/>
                </a:solidFill>
                <a:latin typeface="Calibri"/>
              </a:rPr>
              <a:t>Outside research that backs what the visits showed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Cover crops in CA avocado orchards — proven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UCCE (Faber / Rowe-Fish)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Better soil structure &amp; less compaction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Less erosion from wind and rain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More organic matter &amp; nutrient cycling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Weed suppression + habitat for beneficials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Better infiltration &amp; soil moisture storage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Rain capture → salt leaching &amp; drought resilience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What Ventura growers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Dramatic runoff reduction after adopting covers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Soil OM can climb from very low baselines over years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Mixes beat single species (e.g. triticale + faba + daikon)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Hillside CA literature: runoff −23–77%; erosion −50–75% vs bare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Sources: UCCE Topics in Subtropics; CAC Cover Crop Panel; UC Cover Crops Resources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4332"/>
                </a:solidFill>
                <a:latin typeface="Georgia"/>
              </a:rPr>
              <a:t>Cover crops — what’s working in coastal SoCal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Seed after first rains (not hot/dry Oct–Nov) — watch the weather window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Prefer winter covers on rainfall; terminate before they fight summer irrigation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Frost risk: avoid tall early covers; seed later (often Jan) if frost-prone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Skip clover-heavy mixes if gophers are already severe in young blocks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Leave residue as mulch when possible; grazing OK if food-safety windows allow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CDFA Healthy Soils funds cover crops, hedgerows, mulch, compost in orchards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Going organic — revenue side (CA avocados)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Market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~10% of CA avocado crop estimated organic (2025)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~15% organic FOB premium vs conventional (often higher when conventional prices soften)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U.S. organic avocado volume sales +19% vs 2023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CA crop ~375M lbs projected (2025) — organics a retail growth driver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Santa Barbara among top-5 avocado counties (~6,844 mapped acres, 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What it means for Summerland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Premium is real but not automatic — needs certification + channel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Index Fresh / specialty retail / DTC each price organic differently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Pair organic path with soil practices that cut water/erosion risk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Transition years: budget for higher weed/labor costs before premium sticks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Sources: Organic Produce Network 2025; CAC Statewide Mapping 2025; CDFA Organics Report 2023–24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Organic vs non-organic — revenue mechanics (what changes P&amp;L)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Potential upside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Market premium: CA organic avocado often carries a meaningful FOB premium (~15% recent signal)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Brand/channel upside: organic + local story can widen access to specialty retail and DTC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Input substitution upside: over time, better soil function can lower some purchased-input intensity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Grant leverage: CDFA Healthy Soils can offset transition-practice costs (cover, hedgerow, mulch, compost)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Transition pressure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Certification + recordkeeping overhead (management time and audits)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Weed pressure/labor often rises first before system benefits compound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Water and labor costs remain the main coastal constraints even in organic systems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Premium capture depends on channel fit — commodity-only routes dilute upside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Sources: CDFA Organics Report; UC organic challenges report; Klonsky UC Davis; CDFA HSP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Going organic — soil health &amp; economics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Soil / system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Organic systems rely on compost, cover crops, and biology instead of synthetics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Builds organic matter and living soil — same direction as regenerative visits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Supports California brand premium strategy (CAC business plan)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Aligns with Apricot Lane / Wanderment / Rincon organic packing examples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Hard truths (UC / CDFA)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Weed management is the #1 organic production challenge statewide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Labor &amp; water pressure hit coastal/urban-edge farms hardest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UC cost studies: organic profits usually need the premium to match conventional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Cover-crop establishment often ~$40–120/acre (Klonsky / UC modeling)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Sources: UC Challenges in Organic Ag 2024; Klonsky organic vs conventional cost comparison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How local organic farms handle pest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What works in SB / Ventura orchards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UCCE: CA avocados are usually under strong biological control — protect beneficials first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Habitat: hedgerows, cover crops, pollinator edges (Rincon / Apricot Lane / Wanderment)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Cultural: reduce dust on roads (dust kills predators/parasites); prune for air flow; monitor before spray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Animals as managers: ducks for snails; chickens for fly larvae (Apricot Lane model)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Allowed materials when needed: Bt for caterpillars; spinosad (e.g. Entrust) + NR415 oil for thrips/mites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Implications for Summerland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Don’t start with sprays — start with habitat + monitoring (PCA / UCCE Ventura)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Tier A hedgerows &amp; cover crops are also pest-control infrastructure, not just erosion tools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Budget organic spray only for economic thresholds (thrips/persea mite are the usual drivers)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Confirm every material with your organic certifier before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Sources: UCCE Ventura avocado pest mgmt; UC IPM Avocado PMG; UC organic avocado cost study (VSBSLO); Apricot Lane regenerative practices.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4332"/>
                </a:solidFill>
                <a:latin typeface="Georgia"/>
              </a:rPr>
              <a:t>Organic revenue strategy for Summerland (phased)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Phase 1 (0-12 mo): adopt regenerative practices that improve margins either way (cover crop, mulch, hedgerows, irrigation discipline)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Phase 2 (12-24 mo): run a block-level organic trial where weed pressure and harvest logistics are manageable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Phase 3 (24+ mo): certify only if premium channels are secured (packing/retail/DTC agreements, not assumptions)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Finance gate: track $/acre before/after by block so expansion is data-driven, not ideology-driven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Similar-size SoCal farms — crops that are 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Core + diversify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Avocado remains the coastal SoCal cash core (55k+ statewide acres)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Organic avocado + specialty (blueberry, citrus) — Fairfield Farms model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Variety stacking (e.g. Levi’s Somis: ~240 ac, 17 avocado varieties, DTC)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Mediterranean / lower-water add-ons: olives, figs, persimmons, dragonfruit, agave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Subtropicals UCCE tracks: cherimoya, passionfruit, dragonfruit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Portfolio lesson (from visits + research)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Don’t plant everything — Apricot Lane’s ~17 commercial lines signal focus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Match crops to water (Montecito rates) and slope harvest labor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Exotics need a packing/channel story (Rincon pack house / Tropics)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Direct / specialty channels capture organic premium better than commodity alone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Sources: CAC Mapping 2025; Levi’s Organic; Fairfield/CA Grown; UCCE Faber; farm visits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Similar-size SoCal farms — operating models that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Four working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Packing hub: pack own + neighbors (Rincon) — food safety + volume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Certified organic DTC: pick → pack → ship (Levi’s) — keep margin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Regen lifestyle + agritourism/CSA (Wanderment / Apricot Lane)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Dual crop organic (avocado + blueberry) with sensors &amp; drip (Fairfield)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Fit for ~80-acre Ortega 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Nearest peer ops: Rincon (hills + packing) &amp; Wanderment (local regen)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Staffing: mid-size organic avocado ranches still need a skilled crew + manager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Sensors / moisture monitoring are now table stakes for water cost control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Conservation grants can fund the same practices seen on visits (hedgerow, cover, mulch)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Sources: Earl’s Organic Rincon tour; farm websites; CDFA HSP eligible practices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Soil-fit logic (370 Ortega Ridge) → crop replacement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Site constraints from L1/L2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Clay to clay-loam soils; low-moderate permeability; rapid runoff risk on steeper units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Active erosion + compaction are primary production constraints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Salt accumulation reported; water-holding profile degraded in many areas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Road-drainage patterning is currently a major hydrologic driver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What this favors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Perennial systems with year-round cover and minimal disturbance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Crops that can perform with tight irrigation control and mulch-mediated evaporation reduction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Species with proven coastal SB/Ventura production pathways (avocado, cherimoya, selected subtropicals)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Block-by-block replacement rather than wholesale conversion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Sources: 7th Generation Design L1/L2 soil &amp; hydrology findings; UCCE subtropicals guidance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Replacing low-margin lemon blocks — candidate crops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Best-fit candidates (given 370ORR soils + climate)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1) Hass/GEM avocado expansion in strongest blocks (existing operational competency)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2) Cherimoya in protected coastal pockets (high-value niche; SB/Ventura precedent)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3) Dragon fruit pilots on lower-water trial acreage (water-efficient specialty option)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4) Olive (oil) only on clearly mechanizable zones and with buyer/processor path secured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De-prioritize / caution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Scale lemon replant without margin proof (L2 notes lemons often break-even at best)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Broad passionfruit expansion before disease/rootstock and channel plan are solved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Any crop requiring frequent heavy tillage on fragile clay slopes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High-labor specialty expansion without manager bandwidth and workforce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Sources: 370ORR L2 report; UCCE Ventura subtropicals; UC dragon fruit publication; lemon/avocado cost studies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Cherimoya market deep dive (California)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Demand and channel reality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UCCE: California is the only U.S. commercial producer; demand often exceeds supply in specialty channels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Production concentrated in Santa Barbara / Ventura / San Diego coastal zones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Most volume does not move through transparent daily spot markets; private grower/packer channels dominate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Best channels: gourmet retail, farmers markets, premium direct programs, niche wholesale accounts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Price signals (use as directional, not guaranteed)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USDA LA Terminal recently listed CA cherimoya around $79–80 per 40-lb carton (~$1.98–2.00/lb)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UCCE historical local/specialty examples show higher direct prices when quality and ripeness control are strong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Current online specialty retailers market cherimoya as premium fruit with substantial retail markups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Conclusion: economics improve most when you control quality, grading, and direct channel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Sources: UCCE Cherimoya pages; USDA AMS HC_FV010 LA Terminal; CCA handbook/marketing notes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Why cherimoya can fit 370 Ortega Ridge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Biophysical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Coastal SB climate is one of California’s best cherimoya zones (marine influence, mild winters)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L2 already recommends trial planting zones and diversification beyond low-margin lemon blocks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Tree-crop system aligns with low-disturbance, perennial ground-cover strategy on fragile clay slopes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Can be placed in protected pockets while avoiding frost-prone or high wind-exposure microsites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Execution risks and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Labor intensity (pollination/pruning/harvest) can erode margins if scaled too fast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Fruit quality and postharvest handling are make-or-break for repeat buyers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Start small (2–5 acres), then scale only with signed channel demand and block-level KPI performance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Use mixed portfolio: avocado core + cherimoya premium niche + optional dragon fruit trial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Sources: 370ORR L2 design report; UCCE cherimoya guidance; California cherimoya handbook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Cherimoya unit economics (directional)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Cost + yield baseline (UC Davis cost study)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Yield range modeled: 4,500–7,500 lb/acre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Cash-cost breakeven: ~$1.08/lb (4,500) → ~$0.70/lb (7,500)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Total-cost breakeven: ~$1.80/lb → ~$1.13/lb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Realized price scenarios (planning)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Low / wholesale: ~$2.00/lb → cash margin ~$0.92–$1.30/lb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Base / direct specialty: ~$4.50/lb → cash margin ~$3.42–$3.80/lb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High / premium: ~$5.00/lb → cash margin ~$3.92–$4.30/lb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Key lever: raise yield + realized $/lb via QC grading &amp; channel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UC Davis cost-study breakevens (Table 3). Wholesale price aligns with USDA LA Terminal (~$1.98–2.00/lb). Farmers market direct often cited at ~$4–$5/lb (validate for today’s channel/quality).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Cherimoya buyers / packers to approach (SB/Ventura outreach)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Local nodes (grow + sell / seasonal availability)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Rincon Tropics (Carpinteria, CA) — DTC cherimoyas; specialization + QC-driven hand pollination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MVP Farms (Fillmore, CA) — cherimoya + passion fruit producer (supports regional specialty demand)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Cherimoya.com (Southern CA) — sells to wholesalers &amp; larger retailers (first-grade + seconds)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Wholesale / food service distributors (LA, chef accounts)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LuckyTaro (Vernon, CA) — wholesale produce; cherimoya listed on product pages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Melissa’s Produce (LA) — specialty distribution incl. food service line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Outreach angle: offer small pilot volume + clear grading/ripeness protocols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Sources: Rincon Tropics; MVP Farms; Cherimoya.com; LuckyTaro; Melissa’s Produce.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4332"/>
                </a:solidFill>
                <a:latin typeface="Georgia"/>
              </a:rPr>
              <a:t>Cherimoya pilot recommendation (12–24 months)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Pilot size: 2–5 acres in the most protected, operationally accessible replacement lemon blocks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Commercial design: pre-secure 2–3 buyers (specialty retail / chefs / direct box channel) before planting expansion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Operating KPIs: net $/acre, labor hours/acre, packout %, reject %, average realized $/lb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Go/No-Go gate: expand only if pilot beats lemon net returns and does not degrade erosion-control progress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Dragon fruit (pitahaya) — water-efficient specialty alternative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Why it fits Ortega Ridge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UC ANR calls pitahaya/dragon fruit a promising water-efficient crop option for Southern CA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Survives on minimal water, but commercial fruit set needs consistent drip irrigation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Avoid excessive watering in poorly drained soils (root-zone pathogens)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Trellised blocks can reduce ground disturbance and preserve mulch/cover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Market + rollout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Current demand often exceeds supply; retail prices cited around $3–$8/lb (channel-dependent)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Start small (1–3 acres) near infrastructure; validate variety + trellis system and packout stability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Set targets for fruit size/brix + disease pressure; scale only with a signed direct/specialty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Sources: UC ANR pitahaya/water-efficient resources; UC ANR marketing notes with retail price range.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4332"/>
                </a:solidFill>
                <a:latin typeface="Georgia"/>
              </a:rPr>
              <a:t>Recommended replacement plan (next 24 months)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Keep lemons only where returns and tree health are clearly positive; sunset weak blocks first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Convert first replacement tranche to avocado + soil-building understory where slope/access allow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Run 2-3 acre specialty trials (cherimoya and/or dragon fruit) near infrastructure for close management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Treat olives as optional Tier C: pursue only with harvest/processing economics validated upfront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Gate each expansion by block-level KPIs: net $/acre, labor hours/acre, irrigation gallons/acre, erosion score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4332"/>
                </a:solidFill>
                <a:latin typeface="Georgia"/>
              </a:rPr>
              <a:t>Research → Summerland implications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Organic premium (~15%) supports a phased certification path — but only with channel + weed plan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Cover crops &amp; hedgerows are the highest evidence-backed fixes for Ortega Ridge erosion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CDFA Healthy Soils / Restore-type grants can underwrite Tier A practice costs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Crop diversification should stay short-list &amp; water-smart — not 200 varieties on day one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Peer ops prove: packing access + DTC/specialty channels beat wholesale-only for organic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84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DECISIONS FOR SUMMERLAND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4A98A"/>
                </a:solidFill>
                <a:latin typeface="Calibri"/>
              </a:rPr>
              <a:t>Priorities first — then how we fund and staff them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4332"/>
                </a:solidFill>
                <a:latin typeface="Georgia"/>
              </a:rPr>
              <a:t>Steal first — Tier 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2796F"/>
                </a:solidFill>
                <a:latin typeface="Calibri"/>
              </a:rPr>
              <a:t>Highest leverage · start within 90 days · strongest CA research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1.  Hedgerows on roads and drainage lines (Rincon + CDFA HSP practice)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2.  Cover-crop trial in avocados (UCCE-backed; winter rainfall model)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3.  Cardboard + mulch on bare patches (Wanderment; HSP mulching)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4.  Pollinator edge plantings (Apricot Lane / Wanderment)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4332"/>
                </a:solidFill>
                <a:latin typeface="Georgia"/>
              </a:rPr>
              <a:t>Tier B / C — later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2796F"/>
                </a:solidFill>
                <a:latin typeface="Calibri"/>
              </a:rPr>
              <a:t>Do not let these distract from Tier A ground cover &amp; erosion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1.  Phased organic certification if channel + weed plan can capture ~15% premium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2.  Compost tea pilot (after fertility basics are in place)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3.  Packing / channel for cherimoya / specialty fruit (after buyers secured)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4.  Livestock later — only with a farm manager; agritourism after zoning/insurance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84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GRANT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4A98A"/>
                </a:solidFill>
                <a:latin typeface="Calibri"/>
              </a:rPr>
              <a:t>Funding that matches what we saw — and what Ortega Ridge needs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Grant stack at a glance (Summerland-relevant)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Near-term / rolling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Zero Foodprint Compost Connector — compost purchase rebates (CA; up to ~$20k/yr)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NRCS EQIP — conservation cost-share (cover, hedgerow, mulch, irrigation); apply via local USDA office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UCCE / RCD technical assistance — free help to package applications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Next windows to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Zero Foodprint Restore Grant — up to $25k; reopen Fall 2026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CDFA Healthy Soils (HSP) — producer apps via regional Block Grant Recipients (~2027)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CDFA SWEEP — irrigation efficiency upgrades via Block Grant Recipients (~2027; up to ~$200k)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Windows move — confirm current deadlines before applying. Stack carefully (don’t double-count same compost purchase).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Zero Foodprint — Restore Grant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What it funds (up to $25k)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Cover crops, mulching, compost application, hedgerow planting, range planting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Scored on cost per ton CO₂ sequestered (COMET Planner required)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Technical Assistance Provider required; ZFP pays TA cost in addition to award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Lifetime cap ~$75k across awards; additionality attestation (wouldn’t do it without grant)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Fit for Ortega 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Maps directly to Tier A: hedgerows, cover crops, mulch on bare patches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California avocado growers already pointed to this program (CAGA resource center)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Prep now: pick 1–4 practices + acreage; draft COMET; ID UCCE/RCD TA partner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Applications closed now → reopen Fall 2026 — get on ZFP newsletter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Sources: zerofoodprint.org/apply; CAGA Restore Grant announcement (eligible practices list).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Zero Foodprint — Compost Connector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CA-only rebate for compost purchased from ZFP-approved CalRecycle facilities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Up to ~$20,000 per year; fixed $/ton rebate (varies by jurisdiction funding)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Sign agreement first — only purchases after award are eligible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Can often stack with non–SB1383 sources (e.g. HSP/EQIP) if rules allow — ask ZFP first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Why apply for Summerland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Compost is already a fertility-path item (Apricot Lane model; L2 soil rebuild)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Lower barrier than Restore: rolling / queue-based awards while funding lasts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Useful bridge while waiting for Fall 2026 Restore + HSP block-grant reopen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Action: submit Compost Connector intake; identify approved local compost vendor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Sources: zerofoodprint.org/compost; Compost Connector vendor / claim rules (SB1383 jurisdiction dollars).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CDFA Healthy Soils + SWEEP (block-grant era)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Healthy Soils Program (HSP)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Practices: cover crop, compost, mulch, hedgerows, reduced till — orchard-eligible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Farmer apps currently closed; regional Block Grant Recipients launch ~2027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On-farm awards historically up to ~$150k (cap ~$75k/practice) via Climate Bond model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Watch CDFA HSP page for SB/Ventura BGR contacts once posted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SWEEP (water + energy)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Irrigation scheduling, soil moisture sensors, drip upgrades, pump/VFD, fuel conversion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Same block-grant timeline; on-farm projects historically up to ~$200k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High relevance given Montecito-area water cost + slope irrigation control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Do not fund the same equipment twice with EQIP + SWEEP on same parcel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Sources: CDFA OARS HSP &amp; SWEEP block-grant pages; How to Participate PDFs (2026–27 timeline).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NRCS EQIP + recommended grant action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EQIP (always-on federal path)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Cost-share for conservation plan practices: cover, hedgerow, mulch, irrigation, compost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Applications accepted year-round; ranked against state cutoff dates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Work with Santa Barbara / Ventura USDA Service Center for plan + ranking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Can complement ZFP/HSP if practices/purchases don’t double-count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90-day actions for Summerland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1) Apply Compost Connector (if compost purchase is near-term)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2) Meet UCCE Ventura/SB + local RCD for TA + COMET dry-run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3) Start EQIP conservation-plan conversation for Tier A acreage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4) Calendar Fall 2026 Restore + watch HSP/SWEEP BGR announcements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Sources: NRCS California EQIP; UC ANR EQIP organic/transition notes; ZFP + CDFA program pages.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84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PEOPLE &amp;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4A98A"/>
                </a:solidFill>
                <a:latin typeface="Calibri"/>
              </a:rPr>
              <a:t>Who directs the work — and how UCSB / UC can help transform the farm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Farm leadership model — Armando + area lead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Keep Armando as the ops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Armando already owns daily execution (crew, harvest, logging) — don’t replace that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Gap: someone who knows SB/Ventura avocado systems, regenerative practices, and grant/TA networks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Role of an area lead: set weekly priorities, block trials, buyer/PCA calls — then brief Armando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Success looks like: clear SOPs + KPIs, not two people giving conflicting field orders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Who could fill the lead seat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A) Hire a part-time / fractional farm manager with coastal avocado experience (best for scale)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B) UCSB/Bren or ES student coordinator (paid) under owner + UCCE advisor oversight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C) Hybrid: experienced consultant 1 day/week + student executes monitoring / grant paperwork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Must speak Spanish with crew OR have a bilingual handoff plan with Armando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Ops context: Armando is daily logging/crew lead in the Summerland data pipeline; manager role is direction + systems, not replacement.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UCSB student pathways (practical, not theoretical)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How to plug students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Env. Studies Internship (ENV S 192) — credit internship hosted on Ortega Ridge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Bren Environmental Leadership (BEL) — paid summer team (Bren grad mentor + undergrad) with external partners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CCBER / Edible Campus alumni — students already trained in restoration, soils, and field work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Scope for a student lead: cover-crop monitoring, COMET/grant packets, photo plots, buyer research — not sole orchard manager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Guardrails so it works with Armando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Student reports to owner; Armando remains field authority for crew tasks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Written weekly plan (1 page) shared with Armando before Monday start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Pay the role (stipend) — unpaid “intern manager” fails on hills and harvest weeks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Pair with Ben Faber / UCCE Small Farms for technical backup on avocados &amp; practices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Sources: UCSB ES Internship Program; Bren BEL partner model (e.g. White Buffalo / Jalama projects); UCCE SB contacts.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Working with the university to transform the farm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Partnership models (light → deep)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Light: UCCE advisory relationship — Faber (avos/soils/water) + Small Farms TA for trials &amp; grants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Medium: multi-year living-lab MOU — UCSB classes/research plots on erosion, cover crops, water, biodiversity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Deep: formal research/education partnership (instrumented blocks, student cohorts, published outcomes)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Regional peer: White Buffalo Land Trust (Summerland-rooted) runs living-lab regen education — explore knowledge exchange, not a takeover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Suggested 12-month ask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1) Intro call: UCCE Faber + Small Farms — site walk on Tier A blocks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2) Post 1 paid student coordinator role (ENV S 192 / Handshake / BEL partner ask)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3) Draft living-lab one-pager: research questions, access rules, insurance, IP/data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4) Decide hire track: fractional avocado manager vs. student+consultant hybrid by 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Sources: UCCE Santa Barbara; UC Small Farms SLO/SB; Bren BEL; White Buffalo Land Trust living-lab model (Jalama / Summerland flagship narrative).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B4332"/>
                </a:solidFill>
                <a:latin typeface="Georgia"/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371600" cy="54864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1) Green-light Tier A pilots (hedgerows, cover crop, mulch, pollinator edge)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2) Name an area lead path for Armando (hire / student+consultant / hybrid)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3) Start grant pipeline (Compost Connector + EQIP now; Restore Fall 2026)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4) Soft-start crop replacement: map weak lemon blocks; buyer calls for cherimoya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5) Full citations: BIBLIOGRAPHY.md · ops memo: Farm_Visit_Operations_Summary.md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4332"/>
                </a:solidFill>
                <a:latin typeface="Georgia"/>
              </a:rPr>
              <a:t>Bibliography (1/3) — Organic markets &amp; economics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55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1. Organic Produce Network (2025). California’s 2025 organic avocado harvest could reach record-high volume.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2. CDFA State Organic Program (2024). California Agricultural Organics Report 2023–2024.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3. California Avocado Commission / Land IQ (2025). 2025 Statewide Avocado Mapping Report.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4. California Avocado Commission (2024). 2024–25 Business Plan.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5. Klonsky, K. Comparison of Production Costs… Organic and Conventional (UC Davis / NRCS).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6. UC ANR (2024). Challenges in Organic Agriculture in California.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Full URLs &amp; notes: farm_visit_deck/BIBLIOGRAPHY.md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4332"/>
                </a:solidFill>
                <a:latin typeface="Georgia"/>
              </a:rPr>
              <a:t>Bibliography (2/3) — Cover crops, soils &amp; funding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55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7. Rowe-Fish, A. &amp; Faber, B. (UCCE). Avocados and Cover Crops. Topics in Subtropics.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8–10. CAC cover-crop panel; UCCE Ventura cover crops; UC ANR cover-crop benefits.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11. California Avocado Growers Assoc. Resource Center (organic path + Restore Grant).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12–13. CDFA Healthy Soils Program + Incentive Grants RGA (eligible practices).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28. Zero Foodprint. Restore Grants (up to $25k; reopen Fall 2026) + Compost Connector.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29–30. CDFA SWEEP block-grant pages; NRCS California EQIP (cost-share conservation).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Full URLs &amp; notes: farm_visit_deck/BIBLIOGRAPHY.md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4332"/>
                </a:solidFill>
                <a:latin typeface="Georgia"/>
              </a:rPr>
              <a:t>Bibliography (3/3) — SoCal peer farms &amp; visits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55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14. Earl’s Organic (2022). Farm Tour 2022: Rincon Avocados.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15. Permanent.ag. Rincon Farms profile.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16. Levi’s Organic Avocados. The Ranch (Somis) — ~240 ac, 17 varieties, DTC.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17. California Grown. Fairfield Farms — organic avocado + blueberry (Pauma Valley).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18–19. Apricot Lane Farms &amp; Wanderment Farms websites; SB Independent Wanderment feature (2024).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20–21. UCCE Ben Faber (Ventura/SB subtropicals); UCCE Small Farms Network SLO &amp; SB.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22. UCCE crop references: Cherimoya, Passionfruit, Dragon Fruit (water-efficient alternative).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23. UCANR lemon cost study (Ventura, 2020) + avocado cost study (Ventura/SB/SLO baseline).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24. USDA AMS / Citrus Mutual lemon price trend references (market context).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25–27. 370ORR L1/L2 soil &amp; hydrology reports + site visits + photo archive (July 2026).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31–33. UCSB ES Internship / Bren BEL; White Buffalo Land Trust living-lab model (SB County).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14910</TotalTime>
  <Words>6023</Words>
  <Application>Microsoft Macintosh PowerPoint</Application>
  <PresentationFormat>Widescreen</PresentationFormat>
  <Paragraphs>530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Max Buford</cp:lastModifiedBy>
  <cp:revision>2</cp:revision>
  <dcterms:created xsi:type="dcterms:W3CDTF">2013-01-27T09:14:16Z</dcterms:created>
  <dcterms:modified xsi:type="dcterms:W3CDTF">2026-08-11T01:02:14Z</dcterms:modified>
  <cp:category/>
</cp:coreProperties>
</file>