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91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9" r:id="rId22"/>
    <p:sldId id="280" r:id="rId23"/>
    <p:sldId id="281" r:id="rId24"/>
    <p:sldId id="286" r:id="rId25"/>
    <p:sldId id="28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29"/>
  </p:normalViewPr>
  <p:slideViewPr>
    <p:cSldViewPr snapToGrid="0" snapToObjects="1">
      <p:cViewPr varScale="1">
        <p:scale>
          <a:sx n="115" d="100"/>
          <a:sy n="115" d="100"/>
        </p:scale>
        <p:origin x="49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796F"/>
                </a:solidFill>
                <a:latin typeface="Calibri"/>
              </a:rPr>
              <a:t>Peer farm visits  ·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1B4332"/>
                </a:solidFill>
                <a:latin typeface="Georgia"/>
              </a:rPr>
              <a:t>Summary</a:t>
            </a:r>
            <a:endParaRPr sz="4000" b="1" dirty="0">
              <a:solidFill>
                <a:srgbClr val="1B4332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2796F"/>
                </a:solidFill>
                <a:latin typeface="Calibri"/>
              </a:rPr>
              <a:t>Rincon Farms  ·  Apricot Lane Farms  ·  Wanderment Farms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dirty="0">
                <a:solidFill>
                  <a:srgbClr val="2D2A26"/>
                </a:solidFill>
                <a:latin typeface="Calibri"/>
              </a:rPr>
              <a:t>A working brief for Summerland / Ortega Ridge — what to copy, what to adapt, what to leave.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Max Buford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B4332"/>
                </a:solidFill>
                <a:latin typeface="Georgia"/>
              </a:rPr>
              <a:t>Three farms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76218" cy="12344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Rincon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0574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4A98A"/>
                </a:solidFill>
                <a:latin typeface="Calibri"/>
              </a:rPr>
              <a:t>Packing + avocado peer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3576218" cy="365760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834640"/>
            <a:ext cx="321045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On-site packing house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Avocados &amp; exotics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Wholesale + local sales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Hillside orchard peer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371600"/>
            <a:ext cx="3576218" cy="12344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0618" y="160020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Apricot Lane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20574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4A98A"/>
                </a:solidFill>
                <a:latin typeface="Calibri"/>
              </a:rPr>
              <a:t>Full regenerative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7738" y="2606040"/>
            <a:ext cx="3576218" cy="365760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6338" y="2834640"/>
            <a:ext cx="321045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Organic &amp; biodynamic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~234 acres, diverse crops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Animals as managers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Fertility center &amp; tea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1371600"/>
            <a:ext cx="3576218" cy="123444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1156" y="160020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Wanderment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2057400"/>
            <a:ext cx="33018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4A98A"/>
                </a:solidFill>
                <a:latin typeface="Calibri"/>
              </a:rPr>
              <a:t>Small regen + agritourism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8276" y="2606040"/>
            <a:ext cx="3576218" cy="365760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6876" y="2834640"/>
            <a:ext cx="321045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Cardboard + mulch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Olives / garden / avocados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Animals + visitor revenue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D2A26"/>
                </a:solidFill>
                <a:latin typeface="Calibri"/>
              </a:rPr>
              <a:t>•  Friday produce boxes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RINCON FARMS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Closest peer  ·  same hills, same crop, packing house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Rincon — what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Hedgerows on roads and drainage lines — erosion control first, habitat second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Cover crops / wildflowers under avocados — pilot with a water meter, winter rainfall window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On-site packing for avocados &amp; exotics — learn the channel, do not build a shed year one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Takeaway: steal the orchard floor before you steal the packing house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5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-954938"/>
            <a:ext cx="5684367" cy="7579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87287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_50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-954938"/>
            <a:ext cx="5684367" cy="7579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577840"/>
            <a:ext cx="11551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4332"/>
                </a:solidFill>
                <a:latin typeface="Georgia"/>
              </a:rPr>
              <a:t>Steal these two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Hass $/lb — Index Fresh vs Rincon Farms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2796F"/>
                </a:solidFill>
                <a:latin typeface="Calibri"/>
              </a:rPr>
              <a:t>Index Fresh = Fresh Facts mid (7/21/26)  ·  Rincon = field price sheet (7/29–30/26)  ·  Δ = Rincon − Index mid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060704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Index Hass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Rincon Hass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Hass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Index Organic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Rincon Organic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Δ Org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$1.38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+$0.12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+$0.16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$1.38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+$0.12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$1.46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$1.55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+$0.09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$1.18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$1.32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+$0.14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$1.60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$1.64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$0.90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$0.90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$1.46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$1.50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$0.70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$0.70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$1.26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$1.30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+$0.04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$0.54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$0.60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+$0.06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$0.98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D2A26"/>
                          </a:solidFill>
                          <a:latin typeface="Calibri"/>
                        </a:rPr>
                        <a:t>$0.60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4332"/>
                          </a:solidFill>
                          <a:latin typeface="Calibri"/>
                        </a:rPr>
                        <a:t>−$0.38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6928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A26"/>
                </a:solidFill>
                <a:latin typeface="Calibri"/>
              </a:rPr>
              <a:t>Takeaway: Rincon quotes a premium on large Hass (32–48). Mid/small (60–70) match Index. Organic 84s are the outlier — Index still much higher than Rincon’s posted $0.60.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7183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Rincon — steal, adapt, leave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Next 12–24 months at Ortega Ridge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21117"/>
              </p:ext>
            </p:extLst>
          </p:nvPr>
        </p:nvGraphicFramePr>
        <p:xfrm>
          <a:off x="457200" y="1280160"/>
          <a:ext cx="11247120" cy="376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18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/ caveat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Hedgerows on roads &amp; drainage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Attacks #1 erosion problem; HSP-eligible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Cover crops in avocados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Pilot + water monitoring; winter rainfall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83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Mulch on orchard floor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D2A26"/>
                          </a:solidFill>
                          <a:latin typeface="Calibri"/>
                        </a:rPr>
                        <a:t>Already started at home — expand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92534" y="546411"/>
            <a:ext cx="10806934" cy="5832088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DD7A3E-6B9D-9D89-7E9A-CABE438461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215" y="1296915"/>
            <a:ext cx="7723569" cy="426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9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APRICOT LANE FARMS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North-star system  ·  copy pieces, not the campus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Apricot Lane — four pieces to remember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~234 acres · organic + biodynamic · ~17 commercial crop lines (visit note)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Crop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200+ varieties marketed; commercial focus narrowed toward ~17 lines. Diversity is brand; focus is P&amp;L.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6431" y="1371600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6471" y="1627632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Animals as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2194560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Livestock are laborers first. Needs fencing + a manager — later for us.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04488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904488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Fertility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27448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Vermicompost + aerated compost tea. Start with compost; tea is Tier 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3904488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6431" y="3904488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6471" y="4160520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Habitat edges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4727448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Pollinator / native margins as pest insurance — phase on ex-citrus edges, not 40 habitat acres day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G_49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-954938"/>
            <a:ext cx="5684367" cy="757915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87287" y="320040"/>
            <a:ext cx="5684367" cy="50292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G_498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287" y="-954938"/>
            <a:ext cx="5684367" cy="75791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577840"/>
            <a:ext cx="115516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B4332"/>
                </a:solidFill>
                <a:latin typeface="Georgia"/>
              </a:rPr>
              <a:t>Fertility Center — copy the logic, start smaller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B4332"/>
                </a:solidFill>
                <a:latin typeface="Georgia"/>
              </a:rPr>
              <a:t>Compost tea 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D2A26"/>
                </a:solidFill>
                <a:latin typeface="Calibri"/>
              </a:rPr>
              <a:t>•  Aerated brew of finished compost as a soil drench (or foliar)</a:t>
            </a:r>
          </a:p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D2A26"/>
                </a:solidFill>
                <a:latin typeface="Calibri"/>
              </a:rPr>
              <a:t>•  Stretches good compost biology across acres — not leachate from a pile</a:t>
            </a:r>
          </a:p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D2A26"/>
                </a:solidFill>
                <a:latin typeface="Calibri"/>
              </a:rPr>
              <a:t>•  Works only as part of compost + cover + mulch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If we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D2A26"/>
                </a:solidFill>
                <a:latin typeface="Calibri"/>
              </a:rPr>
              <a:t>•  After ground cover and a compost source exist — not day one</a:t>
            </a:r>
          </a:p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D2A26"/>
                </a:solidFill>
                <a:latin typeface="Calibri"/>
              </a:rPr>
              <a:t>•  One trial block; soil drench first; no molasses unless lab-tested</a:t>
            </a:r>
          </a:p>
          <a:p>
            <a:pPr algn="l">
              <a:spcAft>
                <a:spcPts val="600"/>
              </a:spcAft>
            </a:pPr>
            <a:r>
              <a:rPr sz="1500" b="0" dirty="0">
                <a:solidFill>
                  <a:srgbClr val="2D2A26"/>
                </a:solidFill>
                <a:latin typeface="Calibri"/>
              </a:rPr>
              <a:t>•  KPIs: vigor, disease notes, hours/brew, $/acre vs solid compost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Apricot Lane Growing Solutions brew  ·  NOP / UVM food-safety notes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WANDERMENT FARMS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Copyable scale  ·  ~56 acres  ·  cardboard, boxes, optional tours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Wanderment — the on-ramp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Same regen philosophy as Apricot Lane, thinner crew, closer to our acreage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Cardboard + mulch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Fastest transferable tactic. Smother weeds without herbicides on bare / eroded patches.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1371600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96431" y="1371600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6471" y="1627632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Ground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471" y="2194560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Same lesson as Rincon — living floor under trees, simpler kit.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04488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904488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Friday boxes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27448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DTC without a pack house. Useful once grades and packing are real.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3904488"/>
            <a:ext cx="5538063" cy="233172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6431" y="3904488"/>
            <a:ext cx="91440" cy="2331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6471" y="4160520"/>
            <a:ext cx="503514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Georgia"/>
              </a:rPr>
              <a:t>Agritourism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6471" y="4727448"/>
            <a:ext cx="5035143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2A26"/>
                </a:solidFill>
                <a:latin typeface="Calibri"/>
              </a:rPr>
              <a:t>Real P&amp;L for them. For us: zoning, insurance, access — after orchard floor, not instead of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1151" y="33453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Wanderment — steal, adapt, leave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Most copyable near-term playbook of the three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79852"/>
              </p:ext>
            </p:extLst>
          </p:nvPr>
        </p:nvGraphicFramePr>
        <p:xfrm>
          <a:off x="457200" y="1280160"/>
          <a:ext cx="1124712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4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/ caveat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Cardboard + mulch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Start on bare / eroded patches now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Ground cover under trees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Same as Rincon, simpler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Friday box / DTC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B4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Once packing + grades exist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4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Full agritourism program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B4332"/>
                          </a:solidFill>
                          <a:latin typeface="Calibri"/>
                        </a:rPr>
                        <a:t>Later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D2A26"/>
                          </a:solidFill>
                          <a:latin typeface="Calibri"/>
                        </a:rPr>
                        <a:t>Separate permit path — see Looking ahead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WHAT TO TAKE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One through-line  ·  one steal list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Steal list for Ortega Ridge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Ground cover, living edges, and a clear market channel beat bare soil + wholesale-only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Move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From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Hedgerows on roads &amp; ditches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Rincon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Soon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D2A26"/>
                          </a:solidFill>
                          <a:latin typeface="Calibri"/>
                        </a:rPr>
                        <a:t>Cover-crop trial in avocados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Rincon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D2A26"/>
                          </a:solidFill>
                          <a:latin typeface="Calibri"/>
                        </a:rPr>
                        <a:t>Soon — winter window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Cardboard + mulch on bare ground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Wanderment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Soon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Pollinator / native edge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Apricot / Wanderment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Soon — one margin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Compost tea pilot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Apricot Lane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After compost + cover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Specialty packing / grades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Rincon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Design this year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Crop shortlist (~17 lines)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Apricot Lane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Citrus transition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Livestock / agritourism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Apricot / Wanderment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D2A26"/>
                          </a:solidFill>
                          <a:latin typeface="Calibri"/>
                        </a:rPr>
                        <a:t>Only with a manager + permits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LOOKING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CDP buildings already in permitting  ·  organic  ·  agritourism  ·  UCSB help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What the current CDP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2796F"/>
                </a:solidFill>
                <a:latin typeface="Calibri"/>
              </a:rPr>
              <a:t>370 Ortega Ridge Road — Agricultural Improvement Plans  ·  4th CDP submittal 6/15/26  ·  Becker Studios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673019" cy="15544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673019" cy="73152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691640"/>
            <a:ext cx="23438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796F"/>
                </a:solidFill>
                <a:latin typeface="Calibri"/>
              </a:rPr>
              <a:t>Parcel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3986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72.88 acres
AG-I-20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0531" y="1463040"/>
            <a:ext cx="2673019" cy="15544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40531" y="1463040"/>
            <a:ext cx="2673019" cy="73152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05123" y="1691640"/>
            <a:ext cx="23438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796F"/>
                </a:solidFill>
                <a:latin typeface="Calibri"/>
              </a:rPr>
              <a:t>APN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7691" y="2057400"/>
            <a:ext cx="23986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005-080-017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2" y="1463040"/>
            <a:ext cx="2673019" cy="15544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8142" y="1463040"/>
            <a:ext cx="2673019" cy="73152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42734" y="1691640"/>
            <a:ext cx="23438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796F"/>
                </a:solidFill>
                <a:latin typeface="Calibri"/>
              </a:rPr>
              <a:t>Coastal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5302" y="2057400"/>
            <a:ext cx="23986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Appeals boundary
on the site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753" y="1463040"/>
            <a:ext cx="2673019" cy="15544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15753" y="1463040"/>
            <a:ext cx="2673019" cy="73152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80345" y="1691640"/>
            <a:ext cx="23438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2796F"/>
                </a:solidFill>
                <a:latin typeface="Calibri"/>
              </a:rPr>
              <a:t>Fire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2913" y="2057400"/>
            <a:ext cx="239869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4332"/>
                </a:solidFill>
                <a:latin typeface="Calibri"/>
              </a:rPr>
              <a:t>High Fire
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Two scope areas — not a tour program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2D2A26"/>
                </a:solidFill>
                <a:latin typeface="Calibri"/>
              </a:rPr>
              <a:t>•  Scope 1: remodel existing 2-car garage to a pool cabana + new pre-engineered metal equipment barn on slab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D2A26"/>
                </a:solidFill>
                <a:latin typeface="Calibri"/>
              </a:rPr>
              <a:t>•  Scope 2: new operations barn + office on slab, plus two prefab agricultural employee dwellings; relocate water tanks out of setback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2D2A26"/>
                </a:solidFill>
                <a:latin typeface="Calibri"/>
              </a:rPr>
              <a:t>•  Main house and 45' pool are existing / not in farm-ops scope. Tennis court and part of the asphalt drive are demo’d.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Buildings in the CDP — numbers from the cover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Net sf from A0.00  ·  total new development ~7,075 nsf / 7,470 gsf  ·  grading cut 2,250 cy / fill 1,670 / export 580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Piece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Net sf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 it matters for the farm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Equipment barn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~3,042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Shop + crop/equipment storage next to the motor court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Operations barn + office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~2,778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Working HQ — packing/crew/records, not a tasting room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Farm worker unit #1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On-site agricultural employee housing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Farm worker unit #2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640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Second unit — crew capacity, not agritourism lodging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Pool cabana (garage remodel)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~635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Residential amenity — do not treat as farm visitor space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Water tanks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Relocate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Three 500-gal + two 5,000-gal tanks moved out of setback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B4332"/>
                </a:solidFill>
                <a:latin typeface="Georgia"/>
              </a:rPr>
              <a:t>Constraints already on the drawings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Coastal Commission appeals boundary crosses the property — public-facing uses get extra scrutiny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Montecito Water District easements and laterals; 20' / 50' setbacks from Ortega Ridge Road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High Fire Hazard; Type V-B construction; no sprinklers noted on the cover sheet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New gated entries must meet sight-triangle / encroachment-permit rules — visitor traffic is a planning issue, not just a branding issue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2D2A26"/>
                </a:solidFill>
                <a:latin typeface="Calibri"/>
              </a:rPr>
              <a:t>•  Sanitary sewer work (laterals + lift station) is in the civil set — farmworker units depend on that, not on agritourism revenue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ORGANIC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84A98A"/>
                </a:solidFill>
                <a:latin typeface="Calibri"/>
              </a:rPr>
              <a:t>Certification is a USDA + California process </a:t>
            </a:r>
            <a:endParaRPr lang="en-US" sz="2000" dirty="0">
              <a:solidFill>
                <a:srgbClr val="84A98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Organic — what “permitting” actually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Two required layers (CA)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USDA National Organic Program: pick an accredited certifier (CCOF is the usual CA avocado path)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Submit an Organic System Plan (farm map, inputs, records) → inspection → certificate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CDFA State Organic Program: California registration before the first organic sale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If organic sales will exceed $5,000/year, certification is required — not optional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88720"/>
            <a:ext cx="5394960" cy="4754880"/>
          </a:xfrm>
          <a:prstGeom prst="rect">
            <a:avLst/>
          </a:prstGeom>
          <a:solidFill>
            <a:srgbClr val="E8E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4332"/>
                </a:solidFill>
                <a:latin typeface="Calibri"/>
              </a:rPr>
              <a:t>The 36-month clock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Land must have had no prohibited materials for 36 consecutive months before you can sell as organic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Start tracking inputs on day one of transition — receipts for everything that hits the grove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During transition you cannot label, sell, or use the USDA organic seal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D2A26"/>
                </a:solidFill>
                <a:latin typeface="Calibri"/>
              </a:rPr>
              <a:t>•  After certification: annual inspection + annual CDFA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2796F"/>
                </a:solidFill>
                <a:latin typeface="Calibri"/>
              </a:rPr>
              <a:t>Sources: CAC organic grower path; CDFA SOP; UC/CCOF Ten Steps to Organic Certification (2025).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84A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UCSB &amp; UC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4A98A"/>
                </a:solidFill>
                <a:latin typeface="Calibri"/>
              </a:rPr>
              <a:t>Who to call  ·  what to ask  ·  what not to hand a student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4332"/>
                </a:solidFill>
                <a:latin typeface="Georgia"/>
              </a:rPr>
              <a:t>Who to contact — and for what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527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2796F"/>
                </a:solidFill>
                <a:latin typeface="Calibri"/>
              </a:rPr>
              <a:t>Students can monitor and paper the work. They should not be the orchard manager.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Contact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Ask them for</a:t>
                      </a:r>
                    </a:p>
                  </a:txBody>
                  <a:tcPr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UCSB ES Internship (ENV S 192)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es.ucsb.edu/internships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Paid student coordinator: photo plots, cover-crop logs, grant packets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Bren BEL (summer team)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bren.ucsb.edu / BEL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Scoped summer project with a Bren grad mentor (erosion, water, habitat)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CCBER / Edible Campus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B4332"/>
                          </a:solidFill>
                          <a:latin typeface="Calibri"/>
                        </a:rPr>
                        <a:t>CCBER UCSB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Restoration + soils students who already know field work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UCCE — Ben Faber / avocados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1B4332"/>
                          </a:solidFill>
                          <a:latin typeface="Calibri"/>
                        </a:rPr>
                        <a:t>UCCE Ventura / SB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Cover crops, irrigation, organic materials, site walk on Tier A blocks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UC Small Farms (SLO–SB)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UC ANR Small Farms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Transition TA, recordkeeping, certifier intro</a:t>
                      </a:r>
                    </a:p>
                  </a:txBody>
                  <a:tcPr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D2A26"/>
                          </a:solidFill>
                          <a:latin typeface="Calibri"/>
                        </a:rPr>
                        <a:t>White Buffalo Land Trust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4332"/>
                          </a:solidFill>
                          <a:latin typeface="Calibri"/>
                        </a:rPr>
                        <a:t>whitebuffalolandtrust.org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2D2A26"/>
                          </a:solidFill>
                          <a:latin typeface="Calibri"/>
                        </a:rPr>
                        <a:t>Local living-lab peer — knowledge exchange, not a takeover</a:t>
                      </a:r>
                    </a:p>
                  </a:txBody>
                  <a:tcPr>
                    <a:solidFill>
                      <a:srgbClr val="E8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1652</Words>
  <Application>Microsoft Macintosh PowerPoint</Application>
  <PresentationFormat>Widescreen</PresentationFormat>
  <Paragraphs>272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 Buford</cp:lastModifiedBy>
  <cp:revision>2</cp:revision>
  <dcterms:created xsi:type="dcterms:W3CDTF">2013-01-27T09:14:16Z</dcterms:created>
  <dcterms:modified xsi:type="dcterms:W3CDTF">2026-08-21T15:09:30Z</dcterms:modified>
  <cp:category/>
</cp:coreProperties>
</file>